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URL SHORTENER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C040"/>
                </a:solidFill>
                <a:latin typeface="Calibri"/>
              </a:defRPr>
            </a:pPr>
            <a:r>
              <a:t>A Data Structures &amp; Algorithms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27432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0"/>
              </a:spcAft>
              <a:defRPr sz="1600" b="0">
                <a:solidFill>
                  <a:srgbClr val="C0CCDD"/>
                </a:solidFill>
                <a:latin typeface="Calibri"/>
              </a:defRPr>
            </a:pPr>
            <a:r>
              <a:t>Student:  Parikshit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C0CCDD"/>
                </a:solidFill>
                <a:latin typeface="Calibri"/>
              </a:defRPr>
            </a:pPr>
            <a:r>
              <a:t>Subject:  Data Structures &amp; Algorithms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C0CCDD"/>
                </a:solidFill>
                <a:latin typeface="Calibri"/>
              </a:defRPr>
            </a:pPr>
            <a:r>
              <a:t>Core DS:  Custom HashMap with Separate Chaining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C0CCDD"/>
                </a:solidFill>
                <a:latin typeface="Calibri"/>
              </a:defRPr>
            </a:pPr>
            <a:r>
              <a:t>Tech Stack:  C++ · Python Flask · HTML/CSS/JS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371600"/>
            <a:ext cx="3657600" cy="411480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1E3050"/>
                </a:solidFill>
                <a:latin typeface="Consolas"/>
              </a:defRPr>
            </a:pPr>
            <a:r>
              <a:t>#{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0116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C040"/>
                </a:solidFill>
                <a:latin typeface="Calibri"/>
              </a:defRPr>
            </a:pPr>
            <a:r>
              <a:t>HashMap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355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5"/>
                </a:solidFill>
                <a:latin typeface="Calibri"/>
              </a:defRPr>
            </a:pPr>
            <a:r>
              <a:t>DSA Viva Presentation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DD"/>
                </a:solidFill>
                <a:latin typeface="Calibri"/>
              </a:defRPr>
            </a:pPr>
            <a:r>
              <a:t>A full-stack URL shortening service that converts long URLs into compact, shareable short codes — like Bit.ly — powered by a custom-built HashMap.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3291840" cy="1645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54864" cy="1645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C3F7"/>
                </a:solidFill>
                <a:latin typeface="Calibri"/>
              </a:defRPr>
            </a:pPr>
            <a:r>
              <a:t>O(1) Lookup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Average constant time</a:t>
            </a:r>
            <a:br/>
            <a:r>
              <a:t>for insert &amp;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468880"/>
            <a:ext cx="3291840" cy="1645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468880"/>
            <a:ext cx="54864" cy="16459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697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  <a:latin typeface="Calibri"/>
              </a:defRPr>
            </a:pPr>
            <a:r>
              <a:t>Collision Safe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Separate chaining with</a:t>
            </a:r>
            <a:br/>
            <a:r>
              <a:t>linked lists at each bucket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468880"/>
            <a:ext cx="3291840" cy="1645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468880"/>
            <a:ext cx="54864" cy="16459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697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C040"/>
                </a:solidFill>
                <a:latin typeface="Calibri"/>
              </a:defRPr>
            </a:pPr>
            <a:r>
              <a:t>Auto Resize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00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Dynamic resizing when</a:t>
            </a:r>
            <a:br/>
            <a:r>
              <a:t>load factor exceeds 0.75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3291840" cy="1645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480560"/>
            <a:ext cx="54864" cy="16459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09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B47BC"/>
                </a:solidFill>
                <a:latin typeface="Calibri"/>
              </a:defRPr>
            </a:pPr>
            <a:r>
              <a:t>Base62 Encoding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12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URL-safe short codes</a:t>
            </a:r>
            <a:br/>
            <a:r>
              <a:t>using 62 alphanumeric chars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4480560"/>
            <a:ext cx="3291840" cy="1645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4480560"/>
            <a:ext cx="54864" cy="164592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709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043"/>
                </a:solidFill>
                <a:latin typeface="Calibri"/>
              </a:defRPr>
            </a:pPr>
            <a:r>
              <a:t>File 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212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URLs saved to disk</a:t>
            </a:r>
            <a:br/>
            <a:r>
              <a:t>and reloaded on startup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4480560"/>
            <a:ext cx="3291840" cy="1645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480560"/>
            <a:ext cx="54864" cy="1645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709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C3F7"/>
                </a:solidFill>
                <a:latin typeface="Calibri"/>
              </a:defRPr>
            </a:pPr>
            <a:r>
              <a:t>Web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212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Flask server + modern</a:t>
            </a:r>
            <a:br/>
            <a:r>
              <a:t>frontend with REST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9BB5"/>
                </a:solidFill>
                <a:latin typeface="Calibri"/>
              </a:defRPr>
            </a:pPr>
            <a:r>
              <a:t>Three-layer architecture: Browser → Flask Server → C++ Backend → HashMap + File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2377440" cy="1645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54864" cy="1645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FC3F7"/>
                </a:solidFill>
                <a:latin typeface="Calibri"/>
              </a:defRPr>
            </a:pPr>
            <a:r>
              <a:t>User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HTML / CSS / JS</a:t>
            </a:r>
            <a:br/>
            <a:r>
              <a:t>script.js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194560"/>
            <a:ext cx="2377440" cy="1645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0" y="2194560"/>
            <a:ext cx="54864" cy="16459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6BB6A"/>
                </a:solidFill>
                <a:latin typeface="Calibri"/>
              </a:defRPr>
            </a:pPr>
            <a:r>
              <a:t>Flask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server.py</a:t>
            </a:r>
            <a:br/>
            <a:r>
              <a:t>Python REST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194560"/>
            <a:ext cx="2377440" cy="1645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2194560"/>
            <a:ext cx="54864" cy="16459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C040"/>
                </a:solidFill>
                <a:latin typeface="Calibri"/>
              </a:defRPr>
            </a:pPr>
            <a:r>
              <a:t>C++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url_shortener.cpp</a:t>
            </a:r>
            <a:br/>
            <a:r>
              <a:t>Core DSA Logic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194560"/>
            <a:ext cx="2377440" cy="16459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2194560"/>
            <a:ext cx="54864" cy="16459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B47BC"/>
                </a:solidFill>
                <a:latin typeface="Calibri"/>
              </a:defRPr>
            </a:pPr>
            <a:r>
              <a:t>HashMap +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Custom HashMap</a:t>
            </a:r>
            <a:br/>
            <a:r>
              <a:t>data/urls.txt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C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C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C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How They Communicate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DD"/>
                </a:solidFill>
                <a:latin typeface="Calibri"/>
              </a:defRPr>
            </a:pPr>
            <a:r>
              <a:t>Browser sends HTTP request (fetch) to Flask server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5349240"/>
            <a:ext cx="457200" cy="45720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49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DD"/>
                </a:solidFill>
                <a:latin typeface="Calibri"/>
              </a:defRPr>
            </a:pPr>
            <a:r>
              <a:t>Flask spawns C++ binary via subprocess.run() with stdin commands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5760720"/>
            <a:ext cx="457200" cy="45720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DD"/>
                </a:solidFill>
                <a:latin typeface="Calibri"/>
              </a:defRPr>
            </a:pPr>
            <a:r>
              <a:t>C++ processes request using HashMap, returns result via stdout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6172200"/>
            <a:ext cx="457200" cy="45720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6172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CDD"/>
                </a:solidFill>
                <a:latin typeface="Calibri"/>
              </a:defRPr>
            </a:pPr>
            <a:r>
              <a:t>Flask parses C++ output, sends JSON response back to browser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IS A HASHMAP?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DD"/>
                </a:solidFill>
                <a:latin typeface="Calibri"/>
              </a:defRPr>
            </a:pPr>
            <a:r>
              <a:t>A HashMap stores key-value pairs and provides O(1) average-case lookup using a hash function to compute an array index from the key.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029200" cy="411480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54864" cy="4114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HashMap Memory Layout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08960"/>
            <a:ext cx="640080" cy="36576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C3F7"/>
                </a:solidFill>
                <a:latin typeface="Consolas"/>
              </a:defRPr>
            </a:pPr>
            <a:r>
              <a:t>[0]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CDD"/>
                </a:solidFill>
                <a:latin typeface="Consolas"/>
              </a:defRPr>
            </a:pPr>
            <a:r>
              <a:t>→  NULL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611880"/>
            <a:ext cx="640080" cy="36576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C3F7"/>
                </a:solidFill>
                <a:latin typeface="Consolas"/>
              </a:defRPr>
            </a:pPr>
            <a:r>
              <a:t>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CDD"/>
                </a:solidFill>
                <a:latin typeface="Consolas"/>
              </a:defRPr>
            </a:pPr>
            <a:r>
              <a:t>→  google.com | VFb9qK  →  github.com | xR4mN2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114800"/>
            <a:ext cx="640080" cy="36576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C3F7"/>
                </a:solidFill>
                <a:latin typeface="Consolas"/>
              </a:defRPr>
            </a:pPr>
            <a:r>
              <a:t>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CDD"/>
                </a:solidFill>
                <a:latin typeface="Consolas"/>
              </a:defRPr>
            </a:pPr>
            <a:r>
              <a:t>→  youtube.com | pQ8wL1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617720"/>
            <a:ext cx="640080" cy="36576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617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C3F7"/>
                </a:solidFill>
                <a:latin typeface="Consolas"/>
              </a:defRPr>
            </a:pPr>
            <a:r>
              <a:t>[3]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617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CDD"/>
                </a:solidFill>
                <a:latin typeface="Consolas"/>
              </a:defRPr>
            </a:pPr>
            <a:r>
              <a:t>→  NULL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20640"/>
            <a:ext cx="640080" cy="36576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120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C3F7"/>
                </a:solidFill>
                <a:latin typeface="Consolas"/>
              </a:defRPr>
            </a:pPr>
            <a:r>
              <a:t>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CDD"/>
                </a:solidFill>
                <a:latin typeface="Consolas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1097280" y="5623560"/>
            <a:ext cx="640080" cy="36576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6235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C3F7"/>
                </a:solidFill>
                <a:latin typeface="Consolas"/>
              </a:defRPr>
            </a:pPr>
            <a:r>
              <a:t>[99]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623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CDD"/>
                </a:solidFill>
                <a:latin typeface="Consolas"/>
              </a:defRPr>
            </a:pPr>
            <a:r>
              <a:t>→  NULL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C040"/>
                </a:solidFill>
                <a:latin typeface="Calibri"/>
              </a:defRPr>
            </a:pPr>
            <a:r>
              <a:t>Bucket [1] has 2 nodes — this is a collision resolved by chaining!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Key Components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926080"/>
            <a:ext cx="54864" cy="7772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971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C3F7"/>
                </a:solidFill>
                <a:latin typeface="Calibri"/>
              </a:defRPr>
            </a:pPr>
            <a:r>
              <a:t>Hash Function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246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Converts key → integer index</a:t>
            </a:r>
            <a:br/>
            <a:r>
              <a:t>hash(key) % capacity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886200"/>
            <a:ext cx="54864" cy="7772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931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BB6A"/>
                </a:solidFill>
                <a:latin typeface="Calibri"/>
              </a:defRPr>
            </a:pPr>
            <a:r>
              <a:t>Buckets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Array slots where data lives</a:t>
            </a:r>
            <a:br/>
            <a:r>
              <a:t>Each bucket is a linked list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846320"/>
            <a:ext cx="54864" cy="7772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892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7043"/>
                </a:solidFill>
                <a:latin typeface="Calibri"/>
              </a:defRPr>
            </a:pPr>
            <a:r>
              <a:t>Collision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166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Two keys map to same index</a:t>
            </a:r>
            <a:br/>
            <a:r>
              <a:t>Resolved via separate chaining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806440"/>
            <a:ext cx="54864" cy="77724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5852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C040"/>
                </a:solidFill>
                <a:latin typeface="Calibri"/>
              </a:defRPr>
            </a:pPr>
            <a:r>
              <a:t>Load Factor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6126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Ratio: size / capacity</a:t>
            </a:r>
            <a:br/>
            <a:r>
              <a:t>Resize when ≥ 0.75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CUSTOM HASHMAP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C040"/>
                </a:solidFill>
                <a:latin typeface="Calibri"/>
              </a:defRPr>
            </a:pPr>
            <a:r>
              <a:t>Data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300" b="0">
                <a:solidFill>
                  <a:srgbClr val="C0CCDD"/>
                </a:solidFill>
                <a:latin typeface="Consolas"/>
              </a:defRPr>
            </a:pPr>
            <a:r>
              <a:t>template&lt;typename K, typename V&gt;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0CCDD"/>
                </a:solidFill>
                <a:latin typeface="Consolas"/>
              </a:defRPr>
            </a:pPr>
            <a:r>
              <a:t>class HashMap {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0CCDD"/>
                </a:solidFill>
                <a:latin typeface="Consolas"/>
              </a:defRPr>
            </a:pPr>
            <a:r>
              <a:t>  struct Node { K key; V value; };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0CCDD"/>
                </a:solidFill>
                <a:latin typeface="Consolas"/>
              </a:defRPr>
            </a:pPr>
            <a:r>
              <a:t>  list&lt;Node&gt;* table;  // Array of linked lists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0CCDD"/>
                </a:solidFill>
                <a:latin typeface="Consolas"/>
              </a:defRPr>
            </a:pPr>
            <a:r>
              <a:t>  int capacity = 100; // Initial buckets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0CCDD"/>
                </a:solidFill>
                <a:latin typeface="Consolas"/>
              </a:defRPr>
            </a:pPr>
            <a:r>
              <a:t>  int size = 0;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0CCDD"/>
                </a:solidFill>
                <a:latin typeface="Consolas"/>
              </a:defRPr>
            </a:pPr>
            <a:r>
              <a:t>  double LOAD_FACTOR = 0.75;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C0CCDD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C040"/>
                </a:solidFill>
                <a:latin typeface="Calibri"/>
              </a:defRPr>
            </a:pPr>
            <a:r>
              <a:t>Operations &amp; Complexity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5394960" cy="7315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4864" cy="7315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7"/>
                </a:solidFill>
                <a:latin typeface="Consolas"/>
              </a:defRPr>
            </a:pPr>
            <a:r>
              <a:t>insert(key, val)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2057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0C040"/>
                </a:solidFill>
                <a:latin typeface="Calibri"/>
              </a:defRPr>
            </a:pPr>
            <a:r>
              <a:t>O(1) avg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Hash → check chain → append/update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880360"/>
            <a:ext cx="5394960" cy="7315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880360"/>
            <a:ext cx="54864" cy="7315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7"/>
                </a:solidFill>
                <a:latin typeface="Consolas"/>
              </a:defRPr>
            </a:pPr>
            <a:r>
              <a:t>get(key)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926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0C040"/>
                </a:solidFill>
                <a:latin typeface="Calibri"/>
              </a:defRPr>
            </a:pPr>
            <a:r>
              <a:t>O(1) avg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46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Hash → walk chain → return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749040"/>
            <a:ext cx="5394960" cy="7315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749040"/>
            <a:ext cx="54864" cy="7315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7"/>
                </a:solidFill>
                <a:latin typeface="Consolas"/>
              </a:defRPr>
            </a:pPr>
            <a:r>
              <a:t>remove(key)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794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0C040"/>
                </a:solidFill>
                <a:latin typeface="Calibri"/>
              </a:defRPr>
            </a:pPr>
            <a:r>
              <a:t>O(1) avg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Hash → find in chain → erase node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617720"/>
            <a:ext cx="5394960" cy="7315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617720"/>
            <a:ext cx="54864" cy="7315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7"/>
                </a:solidFill>
                <a:latin typeface="Consolas"/>
              </a:defRPr>
            </a:pPr>
            <a:r>
              <a:t>contains(key)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0C040"/>
                </a:solidFill>
                <a:latin typeface="Calibri"/>
              </a:defRPr>
            </a:pPr>
            <a:r>
              <a:t>O(1) avg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983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Hash → search chain → return bool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486400"/>
            <a:ext cx="5394960" cy="7315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5486400"/>
            <a:ext cx="54864" cy="7315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7"/>
                </a:solidFill>
                <a:latin typeface="Consolas"/>
              </a:defRPr>
            </a:pPr>
            <a:r>
              <a:t>resize()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5532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0C040"/>
                </a:solidFill>
                <a:latin typeface="Calibri"/>
              </a:defRPr>
            </a:pPr>
            <a:r>
              <a:t>O(n)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852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Double capacity, rehash all elements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303520"/>
            <a:ext cx="54864" cy="10972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Calibri"/>
              </a:defRPr>
            </a:pPr>
            <a:r>
              <a:t>Collision Resolution: Separate Chaining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Each bucket holds a std::list (doubly linked list). When two keys hash to the same index, new nodes are appended to the list. This means the HashMap never gets "full" — it gracefully handles any number of collisions.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HASHING: djb2 + BASE62 ENCODING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657600" cy="25603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" cy="25603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Calibri"/>
              </a:defRPr>
            </a:pPr>
            <a:r>
              <a:t>djb2 Hash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hash = 5381  (magic seed)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for each char in URL: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  hash = hash × 33 + char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Bit-shift trick: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  (hash &lt;&lt; 5) + hash + c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  = hash×32 + hash + c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  = hash×33 + c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291840" cy="25603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54864" cy="25603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600200"/>
            <a:ext cx="457200" cy="4572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XOR with Timestamp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031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hash ^= milliseconds_now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Why XOR?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Same URL shortened at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different times → different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short codes.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Adds temporal uniqueness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while preserving distribution.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3657600" cy="25603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463040"/>
            <a:ext cx="54864" cy="256032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60" y="160020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Calibri"/>
              </a:defRPr>
            </a:pPr>
            <a:r>
              <a:t>Base62 Encoding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chars = 0-9 A-Z a-z (62)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while num &gt; 0: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  digit = num % 62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  result = chars[digit]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  num = num / 62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Pad to 6 chars minimum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C0CCDD"/>
                </a:solidFill>
                <a:latin typeface="Consolas"/>
              </a:defRPr>
            </a:pPr>
            <a:r>
              <a:t>Truncate to 8 chars max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11155680" cy="210312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54864" cy="21031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C040"/>
                </a:solidFill>
                <a:latin typeface="Calibri"/>
              </a:defRPr>
            </a:pPr>
            <a:r>
              <a:t>Complete Pipeline 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"https://google.com"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94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5"/>
                </a:solidFill>
                <a:latin typeface="Calibri"/>
              </a:defRPr>
            </a:pPr>
            <a:r>
              <a:t>Input 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937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Consolas"/>
              </a:defRPr>
            </a:pPr>
            <a:r>
              <a:t>→  djb2 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937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7,283,946,510,382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394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5"/>
                </a:solidFill>
                <a:latin typeface="Calibri"/>
              </a:defRPr>
            </a:pPr>
            <a:r>
              <a:t>Raw hash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937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Consolas"/>
              </a:defRPr>
            </a:pPr>
            <a:r>
              <a:t>→  XOR 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937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8,549,271,038,462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394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5"/>
                </a:solidFill>
                <a:latin typeface="Calibri"/>
              </a:defRPr>
            </a:pPr>
            <a:r>
              <a:t>Unique hash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4937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Consolas"/>
              </a:defRPr>
            </a:pPr>
            <a:r>
              <a:t>→  Base62  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5760720"/>
            <a:ext cx="2286000" cy="548640"/>
          </a:xfrm>
          <a:prstGeom prst="round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5760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onsolas"/>
              </a:defRPr>
            </a:pPr>
            <a:r>
              <a:t>"VFb9qK"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URL SHORTENING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463040"/>
            <a:ext cx="4754880" cy="8229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1463040"/>
            <a:ext cx="54864" cy="8229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5361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FC3F7"/>
                </a:solidFill>
                <a:latin typeface="Calibri"/>
              </a:defRPr>
            </a:pPr>
            <a:r>
              <a:t>Receive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745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User submits long URL via web form or API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468880"/>
            <a:ext cx="4754880" cy="8229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2468880"/>
            <a:ext cx="54864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5420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6BB6A"/>
                </a:solidFill>
                <a:latin typeface="Calibri"/>
              </a:defRPr>
            </a:pPr>
            <a:r>
              <a:t>Validate 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80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Check for http://, https://, www. or ftp:// prefix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3474720"/>
            <a:ext cx="4754880" cy="8229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3474720"/>
            <a:ext cx="54864" cy="82296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54787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C040"/>
                </a:solidFill>
                <a:latin typeface="Calibri"/>
              </a:defRPr>
            </a:pPr>
            <a:r>
              <a:t>Check Duplicate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886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urlMap.get(longURL) — return existing if found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4480560"/>
            <a:ext cx="4754880" cy="8229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88720" y="4480560"/>
            <a:ext cx="54864" cy="8229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45537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B47BC"/>
                </a:solidFill>
                <a:latin typeface="Calibri"/>
              </a:defRPr>
            </a:pPr>
            <a:r>
              <a:t>Generate Hash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92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djb2 hash + XOR timestamp + Base62 encoding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1463040"/>
            <a:ext cx="4572000" cy="8229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1463040"/>
            <a:ext cx="54864" cy="82296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7043"/>
                </a:solidFill>
                <a:latin typeface="Calibri"/>
              </a:defRPr>
            </a:pPr>
            <a:r>
              <a:t>Collision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1874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If short code exists, retry up to 10 times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2560320"/>
            <a:ext cx="457200" cy="4572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2468880"/>
            <a:ext cx="4572000" cy="8229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2468880"/>
            <a:ext cx="54864" cy="8229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25420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FC3F7"/>
                </a:solidFill>
                <a:latin typeface="Calibri"/>
              </a:defRPr>
            </a:pPr>
            <a:r>
              <a:t>Store in 2 HashMaps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urlMap[long]=short  &amp;  shortToLongMap[short]=long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3474720"/>
            <a:ext cx="4572000" cy="8229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40880" y="3474720"/>
            <a:ext cx="54864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35478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6BB6A"/>
                </a:solidFill>
                <a:latin typeface="Calibri"/>
              </a:defRPr>
            </a:pPr>
            <a:r>
              <a:t>Save to File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886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Write to data/urls.txt — Format: short|long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0" y="4572000"/>
            <a:ext cx="457200" cy="45720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4480560"/>
            <a:ext cx="4572000" cy="8229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40880" y="4480560"/>
            <a:ext cx="54864" cy="82296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45537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C040"/>
                </a:solidFill>
                <a:latin typeface="Calibri"/>
              </a:defRPr>
            </a:pPr>
            <a:r>
              <a:t>Return Short Code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4892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Send 6-8 char Base62 code back to 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URL LOOKUP &amp; REDIRECT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0"/>
            <a:ext cx="1920240" cy="12801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54864" cy="12801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830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DD"/>
                </a:solidFill>
                <a:latin typeface="Consolas"/>
              </a:defRPr>
            </a:pPr>
            <a:r>
              <a:t>Browser visits</a:t>
            </a:r>
            <a:br/>
            <a:r>
              <a:t>localhost/VFb9qK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645920"/>
            <a:ext cx="1920240" cy="12801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1645920"/>
            <a:ext cx="54864" cy="12801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7830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DD"/>
                </a:solidFill>
                <a:latin typeface="Consolas"/>
              </a:defRPr>
            </a:pPr>
            <a:r>
              <a:t>Flask matches</a:t>
            </a:r>
            <a:br/>
            <a:r>
              <a:t>regex [A-Za-z0-9]{6,8}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645920"/>
            <a:ext cx="1920240" cy="12801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645920"/>
            <a:ext cx="54864" cy="128016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7830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DD"/>
                </a:solidFill>
                <a:latin typeface="Consolas"/>
              </a:defRPr>
            </a:pPr>
            <a:r>
              <a:t>Spawn C++ backend</a:t>
            </a:r>
            <a:br/>
            <a:r>
              <a:t>stdin: "2\nVFb9qK\n7"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645920"/>
            <a:ext cx="1920240" cy="12801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1645920"/>
            <a:ext cx="54864" cy="12801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7830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DD"/>
                </a:solidFill>
                <a:latin typeface="Consolas"/>
              </a:defRPr>
            </a:pPr>
            <a:r>
              <a:t>shortToLongMap</a:t>
            </a:r>
            <a:br/>
            <a:r>
              <a:t>.get("VFb9qK")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645920"/>
            <a:ext cx="1920240" cy="12801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645920"/>
            <a:ext cx="54864" cy="12801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7830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CDD"/>
                </a:solidFill>
                <a:latin typeface="Consolas"/>
              </a:defRPr>
            </a:pPr>
            <a:r>
              <a:t>HTTP 302 Redirect</a:t>
            </a:r>
            <a:br/>
            <a:r>
              <a:t>→ google.com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C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C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C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C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Inside the HashMap Lookup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404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200"/>
              </a:spcAft>
              <a:defRPr sz="1500" b="0">
                <a:solidFill>
                  <a:srgbClr val="C0CCDD"/>
                </a:solidFill>
                <a:latin typeface="Consolas"/>
              </a:defRPr>
            </a:pPr>
            <a:r>
              <a:t>1.  Compute index = hash("VFb9qK") % capacity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C0CCDD"/>
                </a:solidFill>
                <a:latin typeface="Consolas"/>
              </a:defRPr>
            </a:pPr>
            <a:r>
              <a:t>2.  Go to table[index] — this is a linked list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C0CCDD"/>
                </a:solidFill>
                <a:latin typeface="Consolas"/>
              </a:defRPr>
            </a:pPr>
            <a:r>
              <a:t>3.  Walk the chain: compare each node.key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C0CCDD"/>
                </a:solidFill>
                <a:latin typeface="Consolas"/>
              </a:defRPr>
            </a:pPr>
            <a:r>
              <a:t>4.  Found → return node.value (original URL)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C0CCDD"/>
                </a:solidFill>
                <a:latin typeface="Consolas"/>
              </a:defRPr>
            </a:pPr>
            <a:r>
              <a:t>5.  No match → return "NOT_FOUND" → 404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3291840"/>
            <a:ext cx="4297680" cy="30175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0" y="3291840"/>
            <a:ext cx="54864" cy="30175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4290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C040"/>
                </a:solidFill>
                <a:latin typeface="Calibri"/>
              </a:defRPr>
            </a:pPr>
            <a:r>
              <a:t>Why Two HashMaps?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02336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400" b="1">
                <a:solidFill>
                  <a:srgbClr val="4FC3F7"/>
                </a:solidFill>
                <a:latin typeface="Calibri"/>
              </a:defRPr>
            </a:pPr>
            <a:r>
              <a:t>urlMap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C0CCDD"/>
                </a:solidFill>
                <a:latin typeface="Consolas"/>
              </a:defRPr>
            </a:pPr>
            <a:r>
              <a:t>long URL → short code</a:t>
            </a:r>
          </a:p>
          <a:p>
            <a:pPr algn="l">
              <a:spcAft>
                <a:spcPts val="1400"/>
              </a:spcAft>
              <a:defRPr sz="1100" b="0">
                <a:solidFill>
                  <a:srgbClr val="8A9BB5"/>
                </a:solidFill>
                <a:latin typeface="Calibri"/>
              </a:defRPr>
            </a:pPr>
            <a:r>
              <a:t>Answers: "Has this URL been shortened before?"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66BB6A"/>
                </a:solidFill>
                <a:latin typeface="Calibri"/>
              </a:defRPr>
            </a:pPr>
            <a:r>
              <a:t>shortToLongMap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C0CCDD"/>
                </a:solidFill>
                <a:latin typeface="Consolas"/>
              </a:defRPr>
            </a:pPr>
            <a:r>
              <a:t>short code → long URL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8A9BB5"/>
                </a:solidFill>
                <a:latin typeface="Calibri"/>
              </a:defRPr>
            </a:pPr>
            <a:r>
              <a:t>Answers: "What is the original URL for this code?"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TIME &amp; SPACE COMPLEXITY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Average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Worst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91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10698480" cy="4572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CDD"/>
                </a:solidFill>
                <a:latin typeface="Calibri"/>
              </a:defRPr>
            </a:pPr>
            <a:r>
              <a:t>Insert (shorten)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BB6A"/>
                </a:solidFill>
                <a:latin typeface="Consolas"/>
              </a:defRPr>
            </a:pPr>
            <a:r>
              <a:t>O(1)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7043"/>
                </a:solidFill>
                <a:latin typeface="Consolas"/>
              </a:defRPr>
            </a:pPr>
            <a:r>
              <a:t>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Hash + append to chain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CDD"/>
                </a:solidFill>
                <a:latin typeface="Calibri"/>
              </a:defRPr>
            </a:pPr>
            <a:r>
              <a:t>Search (lookup)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BB6A"/>
                </a:solidFill>
                <a:latin typeface="Consolas"/>
              </a:defRPr>
            </a:pPr>
            <a:r>
              <a:t>O(1)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7043"/>
                </a:solidFill>
                <a:latin typeface="Consolas"/>
              </a:defRPr>
            </a:pPr>
            <a:r>
              <a:t>O(n)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697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Hash + walk chain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154680"/>
            <a:ext cx="10698480" cy="4572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CDD"/>
                </a:solidFill>
                <a:latin typeface="Calibri"/>
              </a:defRPr>
            </a:pPr>
            <a:r>
              <a:t>Delete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BB6A"/>
                </a:solidFill>
                <a:latin typeface="Consolas"/>
              </a:defRPr>
            </a:pPr>
            <a:r>
              <a:t>O(1)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7043"/>
                </a:solidFill>
                <a:latin typeface="Consolas"/>
              </a:defRPr>
            </a:pPr>
            <a:r>
              <a:t>O(n)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Hash + find + erase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703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CDD"/>
                </a:solidFill>
                <a:latin typeface="Calibri"/>
              </a:defRPr>
            </a:pPr>
            <a:r>
              <a:t>Resize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7043"/>
                </a:solidFill>
                <a:latin typeface="Consolas"/>
              </a:defRPr>
            </a:pPr>
            <a:r>
              <a:t>O(n)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7043"/>
                </a:solidFill>
                <a:latin typeface="Consolas"/>
              </a:defRPr>
            </a:pPr>
            <a:r>
              <a:t>O(n)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703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Rehash all elements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160520"/>
            <a:ext cx="10698480" cy="4572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CDD"/>
                </a:solidFill>
                <a:latin typeface="Calibri"/>
              </a:defRPr>
            </a:pPr>
            <a:r>
              <a:t>Base62 encode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CCDD"/>
                </a:solidFill>
                <a:latin typeface="Consolas"/>
              </a:defRPr>
            </a:pPr>
            <a:r>
              <a:t>O(log 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CCDD"/>
                </a:solidFill>
                <a:latin typeface="Consolas"/>
              </a:defRPr>
            </a:pPr>
            <a:r>
              <a:t>O(log 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n = hash value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709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0CCDD"/>
                </a:solidFill>
                <a:latin typeface="Calibri"/>
              </a:defRPr>
            </a:pPr>
            <a:r>
              <a:t>Space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7043"/>
                </a:solidFill>
                <a:latin typeface="Consolas"/>
              </a:defRPr>
            </a:pPr>
            <a:r>
              <a:t>O(n)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7043"/>
                </a:solidFill>
                <a:latin typeface="Consolas"/>
              </a:defRPr>
            </a:pPr>
            <a:r>
              <a:t>O(n)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709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n = number of URLs stored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937760"/>
            <a:ext cx="5029200" cy="14630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4937760"/>
            <a:ext cx="54864" cy="14630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Calibri"/>
              </a:defRPr>
            </a:pPr>
            <a:r>
              <a:t>Why O(1) Average?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486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With load factor &lt; 0.75, most buckets have 0 or 1 elements. The hash function jumps directly to the correct bucket — no scanning of the entire dataset.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937760"/>
            <a:ext cx="5303520" cy="14630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4937760"/>
            <a:ext cx="54864" cy="14630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043"/>
                </a:solidFill>
                <a:latin typeface="Calibri"/>
              </a:defRPr>
            </a:pPr>
            <a:r>
              <a:t>When Does O(n) Happen?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4864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CDD"/>
                </a:solidFill>
                <a:latin typeface="Calibri"/>
              </a:defRPr>
            </a:pPr>
            <a:r>
              <a:t>Worst case: all keys hash to the same bucket, creating one long linked list. Practically impossible with a good hash function and load factor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PERSISTENCE &amp; WEB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C040"/>
                </a:solidFill>
                <a:latin typeface="Calibri"/>
              </a:defRPr>
            </a:pPr>
            <a:r>
              <a:t>File-Based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5029200" cy="13716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4864" cy="13716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7"/>
                </a:solidFill>
                <a:latin typeface="Calibri"/>
              </a:defRPr>
            </a:pPr>
            <a:r>
              <a:t>On Startup — loadFromFile()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300"/>
              </a:spcAft>
              <a:defRPr sz="1200" b="0">
                <a:solidFill>
                  <a:srgbClr val="C0CCDD"/>
                </a:solidFill>
                <a:latin typeface="Calibri"/>
              </a:defRPr>
            </a:pPr>
            <a:r>
              <a:t>Read data/urls.txt line by line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0CCDD"/>
                </a:solidFill>
                <a:latin typeface="Consolas"/>
              </a:defRPr>
            </a:pPr>
            <a:r>
              <a:t>Split at '|' → short | long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0CCDD"/>
                </a:solidFill>
                <a:latin typeface="Calibri"/>
              </a:defRPr>
            </a:pPr>
            <a:r>
              <a:t>Insert into both HashMaps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5029200" cy="137160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657600"/>
            <a:ext cx="54864" cy="13716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BB6A"/>
                </a:solidFill>
                <a:latin typeface="Calibri"/>
              </a:defRPr>
            </a:pPr>
            <a:r>
              <a:t>After Each Insert — saveToFile()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300"/>
              </a:spcAft>
              <a:defRPr sz="1200" b="0">
                <a:solidFill>
                  <a:srgbClr val="C0CCDD"/>
                </a:solidFill>
                <a:latin typeface="Calibri"/>
              </a:defRPr>
            </a:pPr>
            <a:r>
              <a:t>Iterate through urlStorage vector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0CCDD"/>
                </a:solidFill>
                <a:latin typeface="Consolas"/>
              </a:defRPr>
            </a:pPr>
            <a:r>
              <a:t>Write each pair as: short|long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0CCDD"/>
                </a:solidFill>
                <a:latin typeface="Calibri"/>
              </a:defRPr>
            </a:pPr>
            <a:r>
              <a:t>Data survives program restarts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12080"/>
            <a:ext cx="5029200" cy="118872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212080"/>
            <a:ext cx="54864" cy="11887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49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Calibri"/>
              </a:defRPr>
            </a:pPr>
            <a:r>
              <a:t>data/urls.txt format: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69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200" b="0">
                <a:solidFill>
                  <a:srgbClr val="C0CCDD"/>
                </a:solidFill>
                <a:latin typeface="Consolas"/>
              </a:defRPr>
            </a:pPr>
            <a:r>
              <a:t>VFb9qK|https://google.com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0CCDD"/>
                </a:solidFill>
                <a:latin typeface="Consolas"/>
              </a:defRPr>
            </a:pPr>
            <a:r>
              <a:t>xR4mN2|https://github.com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C0CCDD"/>
                </a:solidFill>
                <a:latin typeface="Consolas"/>
              </a:defRPr>
            </a:pPr>
            <a:r>
              <a:t>pQ8wL1|https://youtube.com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C040"/>
                </a:solidFill>
                <a:latin typeface="Calibri"/>
              </a:defRPr>
            </a:pPr>
            <a:r>
              <a:t>REST API Endpoints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03120"/>
            <a:ext cx="5029200" cy="7772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2240280"/>
            <a:ext cx="594360" cy="27432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24028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212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/api/shorten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560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BB5"/>
                </a:solidFill>
                <a:latin typeface="Consolas"/>
              </a:defRPr>
            </a:pPr>
            <a:r>
              <a:t>Shorten a URL  —  { "url": "https://..." 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017520"/>
            <a:ext cx="5029200" cy="7772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37960" y="3154680"/>
            <a:ext cx="594360" cy="27432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15468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127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/api/expand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474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BB5"/>
                </a:solidFill>
                <a:latin typeface="Consolas"/>
              </a:defRPr>
            </a:pPr>
            <a:r>
              <a:t>Get original URL  —  { "short_url": "VFb9qK" 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931920"/>
            <a:ext cx="5029200" cy="7772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37960" y="4069080"/>
            <a:ext cx="594360" cy="27432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06908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041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/api/stats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389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BB5"/>
                </a:solidFill>
                <a:latin typeface="Consolas"/>
              </a:defRPr>
            </a:pPr>
            <a:r>
              <a:t>HashMap statistics  —  { 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846320"/>
            <a:ext cx="5029200" cy="7772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37960" y="4983480"/>
            <a:ext cx="594360" cy="27432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98348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956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/api/clear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303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BB5"/>
                </a:solidFill>
                <a:latin typeface="Consolas"/>
              </a:defRPr>
            </a:pPr>
            <a:r>
              <a:t>Clear all URLs  —  { 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760720"/>
            <a:ext cx="5029200" cy="7772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37960" y="5897880"/>
            <a:ext cx="594360" cy="27432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589788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870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/&lt;shortcode&gt;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6217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BB5"/>
                </a:solidFill>
                <a:latin typeface="Consolas"/>
              </a:defRPr>
            </a:pPr>
            <a:r>
              <a:t>Redirect to original  —  302 redirect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DSA CONCEPTS APPLIED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10515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4864" cy="10515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Hash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Core data structure — O(1) average lookup for URL storage and retrieval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10515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4864" cy="10515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Calibri"/>
              </a:defRPr>
            </a:pPr>
            <a:r>
              <a:t>Linked 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65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std::list used for separate chaining at each HashMap bucket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97480"/>
            <a:ext cx="5303520" cy="10515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" cy="105156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Calibri"/>
              </a:defRPr>
            </a:pPr>
            <a:r>
              <a:t>Hashing (djb2)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String hashing algorithm for converting URLs to numeric hash values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697480"/>
            <a:ext cx="5303520" cy="10515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697480"/>
            <a:ext cx="54864" cy="10515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788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47BC"/>
                </a:solidFill>
                <a:latin typeface="Calibri"/>
              </a:defRPr>
            </a:pPr>
            <a:r>
              <a:t>Dynamic Resizing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HashMap doubles capacity and rehashes when load factor exceeds 0.75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5303520" cy="10515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54864" cy="105156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043"/>
                </a:solidFill>
                <a:latin typeface="Calibri"/>
              </a:defRPr>
            </a:pPr>
            <a:r>
              <a:t>Base62 Encoding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34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Number system conversion — compresses large integers to short URL-safe strings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931920"/>
            <a:ext cx="5303520" cy="10515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931920"/>
            <a:ext cx="54864" cy="10515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C3F7"/>
                </a:solidFill>
                <a:latin typeface="Calibri"/>
              </a:defRPr>
            </a:pPr>
            <a:r>
              <a:t>Bidirectional Mapping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434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Two HashMaps for O(1) lookup in both directions (long↔short)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166360"/>
            <a:ext cx="5303520" cy="10515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166360"/>
            <a:ext cx="54864" cy="10515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257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Calibri"/>
              </a:defRPr>
            </a:pPr>
            <a:r>
              <a:t>File I/O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669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Persistent storage with formatted text files for data durability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166360"/>
            <a:ext cx="5303520" cy="105156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5166360"/>
            <a:ext cx="54864" cy="105156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5257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Calibri"/>
              </a:defRPr>
            </a:pPr>
            <a:r>
              <a:t>Templates (C++)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669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CDD"/>
                </a:solidFill>
                <a:latin typeface="Calibri"/>
              </a:defRPr>
            </a:pPr>
            <a:r>
              <a:t>Generic programming — HashMap works with any key-value types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017520"/>
            <a:ext cx="393192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C040"/>
                </a:solidFill>
                <a:latin typeface="Calibri"/>
              </a:defRPr>
            </a:pPr>
            <a:r>
              <a:t>URL Shortener — Data Structures &amp; Algorithms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Parikshit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BB5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39496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600"/>
              </a:spcAft>
              <a:defRPr sz="1400" b="0">
                <a:solidFill>
                  <a:srgbClr val="C0CCDD"/>
                </a:solidFill>
                <a:latin typeface="Calibri"/>
              </a:defRPr>
            </a:pPr>
            <a:r>
              <a:t>Custom HashMap with Separate Chaining → O(1) average operations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C0CCDD"/>
                </a:solidFill>
                <a:latin typeface="Calibri"/>
              </a:defRPr>
            </a:pPr>
            <a:r>
              <a:t>djb2 hashing + XOR timestamp + Base62 → unique, compact short URLs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C0CCDD"/>
                </a:solidFill>
                <a:latin typeface="Calibri"/>
              </a:defRPr>
            </a:pPr>
            <a:r>
              <a:t>Full-stack: C++ backend + Python Flask + Web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355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C040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